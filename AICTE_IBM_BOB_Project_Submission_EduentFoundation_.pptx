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76768081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Vivek Kumar</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vk431152@gmail.com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6205606989</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[Research Agent]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B8FCB2AA-549B-CB29-9A47-AB069B3230C1}"/>
              </a:ext>
            </a:extLst>
          </p:cNvPr>
          <p:cNvPicPr>
            <a:picLocks noChangeAspect="1"/>
          </p:cNvPicPr>
          <p:nvPr/>
        </p:nvPicPr>
        <p:blipFill>
          <a:blip r:embed="rId3"/>
          <a:stretch>
            <a:fillRect/>
          </a:stretch>
        </p:blipFill>
        <p:spPr>
          <a:xfrm>
            <a:off x="4031226" y="3667711"/>
            <a:ext cx="924232" cy="999804"/>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998467"/>
            <a:ext cx="10607040" cy="5693866"/>
          </a:xfrm>
          <a:prstGeom prst="rect">
            <a:avLst/>
          </a:prstGeom>
          <a:noFill/>
        </p:spPr>
        <p:txBody>
          <a:bodyPr wrap="square" rtlCol="0">
            <a:spAutoFit/>
          </a:bodyPr>
          <a:lstStyle/>
          <a:p>
            <a:pPr fontAlgn="base"/>
            <a:r>
              <a:rPr lang="en-US" b="1" dirty="0"/>
              <a:t>Problem Statement : Research Agent</a:t>
            </a:r>
            <a:r>
              <a:rPr lang="en-US" dirty="0"/>
              <a:t> </a:t>
            </a:r>
          </a:p>
          <a:p>
            <a:pPr fontAlgn="base"/>
            <a:endParaRPr lang="en-US" b="1" dirty="0"/>
          </a:p>
          <a:p>
            <a:pPr fontAlgn="base"/>
            <a:r>
              <a:rPr lang="en-US" b="1" dirty="0"/>
              <a:t>The Challenge</a:t>
            </a:r>
            <a:r>
              <a:rPr lang="en-US" dirty="0"/>
              <a:t> </a:t>
            </a:r>
          </a:p>
          <a:p>
            <a:endParaRPr lang="en-IN" dirty="0"/>
          </a:p>
          <a:p>
            <a:r>
              <a:rPr lang="en-US" dirty="0"/>
              <a:t> A </a:t>
            </a:r>
            <a:r>
              <a:rPr lang="en-US" b="1" dirty="0"/>
              <a:t>Research Agent </a:t>
            </a:r>
            <a:r>
              <a:rPr lang="en-US" dirty="0"/>
              <a:t>is an AI system designed to assist with academic and scientific research tasks. It can autonomously search for literature, summarize papers, and organize references. Using natural language processing, it understands research questions and retrieves relevant information. The agent can generate reports, suggest hypotheses, and even draft sections of research papers. It saves time by automating repetitive tasks like citation management and data extraction. Research Agents enhance efficiency, accuracy, and innovation in both academic and industrial R&amp;D. </a:t>
            </a:r>
          </a:p>
          <a:p>
            <a:endParaRPr lang="en-US" dirty="0"/>
          </a:p>
          <a:p>
            <a:pPr fontAlgn="base"/>
            <a:r>
              <a:rPr lang="en-US" b="1" dirty="0"/>
              <a:t>The Objective</a:t>
            </a:r>
            <a:r>
              <a:rPr lang="en-US" dirty="0"/>
              <a:t> </a:t>
            </a:r>
          </a:p>
          <a:p>
            <a:pPr fontAlgn="base"/>
            <a:r>
              <a:rPr lang="en-IN" dirty="0"/>
              <a:t>Build an </a:t>
            </a:r>
            <a:r>
              <a:rPr lang="en-IN" b="1" dirty="0"/>
              <a:t>AI-powered Research Agent</a:t>
            </a:r>
            <a:r>
              <a:rPr lang="en-IN" dirty="0"/>
              <a:t> that automates academic and scientific research workflows for researchers, students, and R&amp;D professionals. The solution should:</a:t>
            </a:r>
          </a:p>
          <a:p>
            <a:pPr marL="285750" indent="-285750" fontAlgn="base">
              <a:buFont typeface="Arial" panose="020B0604020202020204" pitchFamily="34" charset="0"/>
              <a:buChar char="•"/>
            </a:pPr>
            <a:endParaRPr lang="en-IN" dirty="0"/>
          </a:p>
          <a:p>
            <a:pPr marL="285750" lvl="0" indent="-285750">
              <a:buFont typeface="Arial" panose="020B0604020202020204" pitchFamily="34" charset="0"/>
              <a:buChar char="•"/>
            </a:pPr>
            <a:r>
              <a:rPr lang="en-IN" b="1" dirty="0"/>
              <a:t>Autonomous Literature Discovery</a:t>
            </a:r>
            <a:r>
              <a:rPr lang="en-IN" dirty="0"/>
              <a:t> – Search for relevant academic papers, scientific literature, and scholarly sources based on natural language research questions.</a:t>
            </a:r>
          </a:p>
          <a:p>
            <a:pPr marL="285750" lvl="0" indent="-285750">
              <a:buFont typeface="Arial" panose="020B0604020202020204" pitchFamily="34" charset="0"/>
              <a:buChar char="•"/>
            </a:pPr>
            <a:r>
              <a:rPr lang="en-IN" b="1" dirty="0"/>
              <a:t>Smart Summarization &amp; Extraction</a:t>
            </a:r>
            <a:r>
              <a:rPr lang="en-IN" dirty="0"/>
              <a:t> – Extract key data points, summarize papers, and process text efficiently to retrieve accurate information.</a:t>
            </a:r>
          </a:p>
          <a:p>
            <a:pPr marL="285750" lvl="0" indent="-285750">
              <a:buFont typeface="Arial" panose="020B0604020202020204" pitchFamily="34" charset="0"/>
              <a:buChar char="•"/>
            </a:pPr>
            <a:r>
              <a:rPr lang="en-IN" b="1" dirty="0"/>
              <a:t>Reference &amp; Citation Management</a:t>
            </a:r>
            <a:r>
              <a:rPr lang="en-IN" dirty="0"/>
              <a:t> – Organize references, handle citations, and eliminate repetitive manual tracking tasks.</a:t>
            </a:r>
          </a:p>
          <a:p>
            <a:pPr marL="285750" lvl="0" indent="-285750">
              <a:buFont typeface="Arial" panose="020B0604020202020204" pitchFamily="34" charset="0"/>
              <a:buChar char="•"/>
            </a:pPr>
            <a:r>
              <a:rPr lang="en-IN" b="1" dirty="0"/>
              <a:t>Hypothesis Generation &amp; Reporting</a:t>
            </a:r>
            <a:r>
              <a:rPr lang="en-IN" dirty="0"/>
              <a:t> – Synthesize findings to generate comprehensive research reports, suggest novel hypotheses, and assist in drafting paper sections.</a:t>
            </a:r>
          </a:p>
          <a:p>
            <a:pPr lvl="0"/>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438617"/>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654730" y="1145952"/>
            <a:ext cx="10607040" cy="5570756"/>
          </a:xfrm>
          <a:prstGeom prst="rect">
            <a:avLst/>
          </a:prstGeom>
          <a:noFill/>
        </p:spPr>
        <p:txBody>
          <a:bodyPr wrap="square" rtlCol="0">
            <a:spAutoFit/>
          </a:bodyPr>
          <a:lstStyle/>
          <a:p>
            <a:r>
              <a:rPr lang="en-IN" sz="1800" dirty="0"/>
              <a:t>The proposed solution is an </a:t>
            </a:r>
            <a:r>
              <a:rPr lang="en-IN" sz="1800" b="1" dirty="0"/>
              <a:t>autonomous academic and scientific R&amp;D assistant</a:t>
            </a:r>
            <a:r>
              <a:rPr lang="en-IN" sz="1800" dirty="0"/>
              <a:t> built using </a:t>
            </a:r>
            <a:r>
              <a:rPr lang="en-IN" sz="1800" b="1" dirty="0"/>
              <a:t>IBM Bob</a:t>
            </a:r>
            <a:r>
              <a:rPr lang="en-IN" sz="1800" dirty="0"/>
              <a:t>, </a:t>
            </a:r>
            <a:r>
              <a:rPr lang="en-IN" sz="1800" b="1" dirty="0"/>
              <a:t>IBM </a:t>
            </a:r>
            <a:r>
              <a:rPr lang="en-IN" sz="1800" b="1" dirty="0" err="1"/>
              <a:t>watsonx</a:t>
            </a:r>
            <a:r>
              <a:rPr lang="en-IN" sz="1800" b="1" dirty="0"/>
              <a:t> Orchestrate</a:t>
            </a:r>
            <a:r>
              <a:rPr lang="en-IN" sz="1800" dirty="0"/>
              <a:t>, and </a:t>
            </a:r>
            <a:r>
              <a:rPr lang="en-IN" sz="1800" b="1" dirty="0"/>
              <a:t>IBM </a:t>
            </a:r>
            <a:r>
              <a:rPr lang="en-IN" sz="1800" b="1" dirty="0" err="1"/>
              <a:t>watsonx</a:t>
            </a:r>
            <a:r>
              <a:rPr lang="en-IN" sz="1800" b="1" dirty="0"/>
              <a:t> Granite Models</a:t>
            </a:r>
            <a:r>
              <a:rPr lang="en-IN" sz="1800" dirty="0"/>
              <a:t> to provide end-to-end intelligent research support. The system addresses the core challenges faced by researchers — information overload, time-consuming literature reviews, inconsistent citation formatting, and the difficulty of synthesizing findings across hundreds of papers — through a modular, agentic architecture.</a:t>
            </a:r>
          </a:p>
          <a:p>
            <a:br>
              <a:rPr lang="en-IN" sz="1800" dirty="0"/>
            </a:br>
            <a:r>
              <a:rPr lang="en-IN" sz="1800" b="1" dirty="0"/>
              <a:t>Core Architecture</a:t>
            </a:r>
          </a:p>
          <a:p>
            <a:endParaRPr lang="en-IN" sz="1800" b="1" dirty="0"/>
          </a:p>
          <a:p>
            <a:r>
              <a:rPr lang="en-IN" sz="1800" dirty="0"/>
              <a:t>At its heart, the solution uses a </a:t>
            </a:r>
            <a:r>
              <a:rPr lang="en-IN" sz="1800" b="1" dirty="0"/>
              <a:t>multi-tool agentic pipeline</a:t>
            </a:r>
            <a:r>
              <a:rPr lang="en-IN" sz="1800" dirty="0"/>
              <a:t> powered by the </a:t>
            </a:r>
            <a:r>
              <a:rPr lang="en-IN" sz="1800" dirty="0" err="1"/>
              <a:t>react_core</a:t>
            </a:r>
            <a:r>
              <a:rPr lang="en-IN" sz="1800" dirty="0"/>
              <a:t> reasoning style in IBM </a:t>
            </a:r>
            <a:r>
              <a:rPr lang="en-IN" sz="1800" dirty="0" err="1"/>
              <a:t>watsonx</a:t>
            </a:r>
            <a:r>
              <a:rPr lang="en-IN" sz="1800" dirty="0"/>
              <a:t> Orchestrate. The agent autonomously decomposes a natural-language research request into a sequence of tool calls — searching databases, summarizing papers, formatting references, and drafting reports — without requiring any manual step-by-step instruction from the user.</a:t>
            </a:r>
          </a:p>
          <a:p>
            <a:r>
              <a:rPr lang="en-IN" sz="1800" dirty="0"/>
              <a:t>The system integrates a </a:t>
            </a:r>
            <a:r>
              <a:rPr lang="en-IN" sz="1800" b="1" dirty="0"/>
              <a:t>federated literature search layer</a:t>
            </a:r>
            <a:r>
              <a:rPr lang="en-IN" sz="1800" dirty="0"/>
              <a:t> that queries three independent academic databases simultaneously:</a:t>
            </a:r>
          </a:p>
          <a:p>
            <a:pPr lvl="0"/>
            <a:r>
              <a:rPr lang="en-IN" sz="1800" b="1" dirty="0"/>
              <a:t>Semantic Scholar</a:t>
            </a:r>
            <a:r>
              <a:rPr lang="en-IN" sz="1800" dirty="0"/>
              <a:t> — for citation-rich, cross-domain academic papers</a:t>
            </a:r>
          </a:p>
          <a:p>
            <a:pPr lvl="0"/>
            <a:r>
              <a:rPr lang="en-IN" sz="1800" b="1" dirty="0" err="1"/>
              <a:t>arXiv</a:t>
            </a:r>
            <a:r>
              <a:rPr lang="en-IN" sz="1800" dirty="0"/>
              <a:t> — for cutting-edge preprints in AI, physics, mathematics, and computer science</a:t>
            </a:r>
          </a:p>
          <a:p>
            <a:pPr lvl="0"/>
            <a:r>
              <a:rPr lang="en-IN" sz="1800" b="1" dirty="0" err="1"/>
              <a:t>CrossRef</a:t>
            </a:r>
            <a:r>
              <a:rPr lang="en-IN" sz="1800" dirty="0"/>
              <a:t> — for peer-reviewed, DOI-indexed journal articles</a:t>
            </a:r>
          </a:p>
          <a:p>
            <a:r>
              <a:rPr lang="en-IN" sz="1800" dirty="0"/>
              <a:t>Search results are returned as structured metadata (title, authors, year, abstract, DOI, citation count) and fed directly into downstream tools without manual data handling.</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517275"/>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07310890-EBD1-FD39-1108-3395423A8572}"/>
              </a:ext>
            </a:extLst>
          </p:cNvPr>
          <p:cNvPicPr>
            <a:picLocks noChangeAspect="1"/>
          </p:cNvPicPr>
          <p:nvPr/>
        </p:nvPicPr>
        <p:blipFill>
          <a:blip r:embed="rId3"/>
          <a:stretch>
            <a:fillRect/>
          </a:stretch>
        </p:blipFill>
        <p:spPr>
          <a:xfrm>
            <a:off x="1071715" y="791411"/>
            <a:ext cx="10200343" cy="588463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20D9EBF9-E817-CA9C-6BB4-DF4A8CF0C476}"/>
              </a:ext>
            </a:extLst>
          </p:cNvPr>
          <p:cNvPicPr>
            <a:picLocks noChangeAspect="1"/>
          </p:cNvPicPr>
          <p:nvPr/>
        </p:nvPicPr>
        <p:blipFill>
          <a:blip r:embed="rId3"/>
          <a:stretch>
            <a:fillRect/>
          </a:stretch>
        </p:blipFill>
        <p:spPr>
          <a:xfrm>
            <a:off x="963260" y="939014"/>
            <a:ext cx="10265479" cy="530536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BB480A-159B-75CE-00D0-95A55FDB521A}"/>
              </a:ext>
            </a:extLst>
          </p:cNvPr>
          <p:cNvPicPr>
            <a:picLocks noChangeAspect="1"/>
          </p:cNvPicPr>
          <p:nvPr/>
        </p:nvPicPr>
        <p:blipFill>
          <a:blip r:embed="rId2"/>
          <a:stretch>
            <a:fillRect/>
          </a:stretch>
        </p:blipFill>
        <p:spPr>
          <a:xfrm>
            <a:off x="452722" y="364166"/>
            <a:ext cx="11463974" cy="6129668"/>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EBF9CC75-4645-CB91-3FBF-9564BA9A645A}"/>
              </a:ext>
            </a:extLst>
          </p:cNvPr>
          <p:cNvPicPr>
            <a:picLocks noChangeAspect="1"/>
          </p:cNvPicPr>
          <p:nvPr/>
        </p:nvPicPr>
        <p:blipFill>
          <a:blip r:embed="rId3"/>
          <a:stretch>
            <a:fillRect/>
          </a:stretch>
        </p:blipFill>
        <p:spPr>
          <a:xfrm>
            <a:off x="955681" y="771747"/>
            <a:ext cx="8720334" cy="5603018"/>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316992" y="1491958"/>
            <a:ext cx="7406640" cy="2800767"/>
          </a:xfrm>
          <a:prstGeom prst="rect">
            <a:avLst/>
          </a:prstGeom>
          <a:noFill/>
        </p:spPr>
        <p:txBody>
          <a:bodyPr wrap="square" rtlCol="0">
            <a:spAutoFit/>
          </a:bodyPr>
          <a:lstStyle/>
          <a:p>
            <a:r>
              <a:rPr lang="en-IN" sz="1600" dirty="0"/>
              <a:t>When a user says </a:t>
            </a:r>
            <a:r>
              <a:rPr lang="en-IN" sz="1600" i="1" dirty="0"/>
              <a:t>"Research transformer architectures in NLP and write a report"</a:t>
            </a:r>
            <a:r>
              <a:rPr lang="en-IN" sz="1600" dirty="0"/>
              <a:t>, the agent does not ask for clarification or wait for step-by-step instructions. It </a:t>
            </a:r>
            <a:r>
              <a:rPr lang="en-IN" sz="1600" b="1" dirty="0"/>
              <a:t>independently decomposes</a:t>
            </a:r>
            <a:r>
              <a:rPr lang="en-IN" sz="1600" dirty="0"/>
              <a:t> the goal into subtasks:</a:t>
            </a:r>
            <a:br>
              <a:rPr lang="en-IN" sz="1600" dirty="0"/>
            </a:br>
            <a:endParaRPr lang="en-IN" sz="1600" dirty="0"/>
          </a:p>
          <a:p>
            <a:pPr marL="285750" lvl="0" indent="-285750">
              <a:buFont typeface="Wingdings" panose="05000000000000000000" pitchFamily="2" charset="2"/>
              <a:buChar char="§"/>
            </a:pPr>
            <a:r>
              <a:rPr lang="en-IN" sz="1600" dirty="0"/>
              <a:t>Identify the right tool (</a:t>
            </a:r>
            <a:r>
              <a:rPr lang="en-IN" sz="1600" dirty="0" err="1"/>
              <a:t>research_pipeline_flow</a:t>
            </a:r>
            <a:r>
              <a:rPr lang="en-IN" sz="1600" dirty="0"/>
              <a:t> for a full pipeline request)</a:t>
            </a:r>
          </a:p>
          <a:p>
            <a:pPr marL="285750" lvl="0" indent="-285750">
              <a:buFont typeface="Wingdings" panose="05000000000000000000" pitchFamily="2" charset="2"/>
              <a:buChar char="§"/>
            </a:pPr>
            <a:r>
              <a:rPr lang="en-IN" sz="1600" dirty="0"/>
              <a:t>Determine search parameters (query, database, result count)</a:t>
            </a:r>
          </a:p>
          <a:p>
            <a:pPr marL="285750" lvl="0" indent="-285750">
              <a:buFont typeface="Wingdings" panose="05000000000000000000" pitchFamily="2" charset="2"/>
              <a:buChar char="§"/>
            </a:pPr>
            <a:r>
              <a:rPr lang="en-IN" sz="1600" dirty="0"/>
              <a:t>Decide summarization depth per paper</a:t>
            </a:r>
          </a:p>
          <a:p>
            <a:pPr marL="285750" lvl="0" indent="-285750">
              <a:buFont typeface="Wingdings" panose="05000000000000000000" pitchFamily="2" charset="2"/>
              <a:buChar char="§"/>
            </a:pPr>
            <a:r>
              <a:rPr lang="en-IN" sz="1600" dirty="0"/>
              <a:t>Select reference format (defaulting to APA)</a:t>
            </a:r>
          </a:p>
          <a:p>
            <a:pPr marL="285750" lvl="0" indent="-285750">
              <a:buFont typeface="Wingdings" panose="05000000000000000000" pitchFamily="2" charset="2"/>
              <a:buChar char="§"/>
            </a:pPr>
            <a:r>
              <a:rPr lang="en-IN" sz="1600" dirty="0"/>
              <a:t>Draft and structure the final report</a:t>
            </a:r>
          </a:p>
          <a:p>
            <a:pPr marL="285750" indent="-285750">
              <a:buFont typeface="Wingdings" panose="05000000000000000000" pitchFamily="2" charset="2"/>
              <a:buChar char="§"/>
            </a:pPr>
            <a:r>
              <a:rPr lang="en-IN" sz="1600" dirty="0"/>
              <a:t>This autonomous decomposition is the defining characteristic of an </a:t>
            </a:r>
            <a:r>
              <a:rPr lang="en-IN" sz="1600" b="1" dirty="0"/>
              <a:t>agentic</a:t>
            </a:r>
            <a:r>
              <a:rPr lang="en-IN" sz="1600" dirty="0"/>
              <a:t> system, separating it from a simple tool-calling API</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D5734D1E-708B-2456-B68A-39FA75BAE1C2}"/>
              </a:ext>
            </a:extLst>
          </p:cNvPr>
          <p:cNvPicPr>
            <a:picLocks noChangeAspect="1"/>
          </p:cNvPicPr>
          <p:nvPr/>
        </p:nvPicPr>
        <p:blipFill>
          <a:blip r:embed="rId3"/>
          <a:stretch>
            <a:fillRect/>
          </a:stretch>
        </p:blipFill>
        <p:spPr>
          <a:xfrm>
            <a:off x="825910" y="732166"/>
            <a:ext cx="10956946" cy="580662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9B1CB405-39A8-20E6-4E8C-510F14A51DFB}"/>
              </a:ext>
            </a:extLst>
          </p:cNvPr>
          <p:cNvPicPr>
            <a:picLocks noChangeAspect="1"/>
          </p:cNvPicPr>
          <p:nvPr/>
        </p:nvPicPr>
        <p:blipFill>
          <a:blip r:embed="rId3"/>
          <a:stretch>
            <a:fillRect/>
          </a:stretch>
        </p:blipFill>
        <p:spPr>
          <a:xfrm>
            <a:off x="635285" y="816977"/>
            <a:ext cx="11373712" cy="554415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F6D1E2CB-A5B3-9816-941D-7B08F8ECA767}"/>
              </a:ext>
            </a:extLst>
          </p:cNvPr>
          <p:cNvPicPr>
            <a:picLocks noChangeAspect="1"/>
          </p:cNvPicPr>
          <p:nvPr/>
        </p:nvPicPr>
        <p:blipFill>
          <a:blip r:embed="rId3"/>
          <a:stretch>
            <a:fillRect/>
          </a:stretch>
        </p:blipFill>
        <p:spPr>
          <a:xfrm>
            <a:off x="639098" y="846288"/>
            <a:ext cx="10530348" cy="579390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29781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875070" y="1275837"/>
            <a:ext cx="11115663" cy="5947782"/>
          </a:xfrm>
          <a:prstGeom prst="rect">
            <a:avLst/>
          </a:prstGeom>
          <a:noFill/>
        </p:spPr>
        <p:txBody>
          <a:bodyPr wrap="square" rtlCol="0">
            <a:spAutoFit/>
          </a:bodyPr>
          <a:lstStyle/>
          <a:p>
            <a:r>
              <a:rPr lang="en-IN" sz="1600" dirty="0"/>
              <a:t>The </a:t>
            </a:r>
            <a:r>
              <a:rPr lang="en-IN" sz="1600" b="1" dirty="0"/>
              <a:t>Research Agent</a:t>
            </a:r>
            <a:r>
              <a:rPr lang="en-IN" sz="1600" dirty="0"/>
              <a:t> stands apart from conventional literature search tools and generic AI chatbots through a combination of architectural decisions and capabilities that, taken together, form a system with no direct off-the-shelf equivalent.</a:t>
            </a:r>
          </a:p>
          <a:p>
            <a:endParaRPr lang="en-IN" sz="1600" dirty="0"/>
          </a:p>
          <a:p>
            <a:pPr marL="342900" indent="-342900">
              <a:buAutoNum type="arabicPeriod"/>
            </a:pPr>
            <a:r>
              <a:rPr lang="en-IN" sz="1600" b="1" dirty="0"/>
              <a:t>Fully Autonomous End-to-End R&amp;D Pipeline: </a:t>
            </a:r>
            <a:r>
              <a:rPr lang="en-IN" sz="1600" dirty="0"/>
              <a:t>Unlike tools such as Google Scholar or Semantic Scholar that stop at search, this system executes a </a:t>
            </a:r>
            <a:r>
              <a:rPr lang="en-IN" sz="1600" b="1" dirty="0"/>
              <a:t>complete research pipeline in a single agent invocation</a:t>
            </a:r>
            <a:r>
              <a:rPr lang="en-IN" sz="1600" dirty="0"/>
              <a:t> — search → per-paper summarization → reference formatting → full report drafting. </a:t>
            </a:r>
          </a:p>
          <a:p>
            <a:pPr marL="342900" indent="-342900">
              <a:buAutoNum type="arabicPeriod"/>
            </a:pPr>
            <a:endParaRPr lang="en-IN" sz="1600" dirty="0"/>
          </a:p>
          <a:p>
            <a:pPr marL="342900" indent="-342900">
              <a:buFont typeface="Arial"/>
              <a:buAutoNum type="arabicPeriod"/>
            </a:pPr>
            <a:r>
              <a:rPr lang="en-IN" sz="1600" b="1" dirty="0"/>
              <a:t>Multi-Database Federated Search in One Query: </a:t>
            </a:r>
            <a:r>
              <a:rPr lang="en-IN" sz="1600" dirty="0"/>
              <a:t>The agent is capable of simultaneously targeting </a:t>
            </a:r>
            <a:r>
              <a:rPr lang="en-IN" sz="1600" b="1" dirty="0"/>
              <a:t>three independent academic databases</a:t>
            </a:r>
            <a:r>
              <a:rPr lang="en-IN" sz="1600" dirty="0"/>
              <a:t> — Semantic Scholar, </a:t>
            </a:r>
            <a:r>
              <a:rPr lang="en-IN" sz="1600" dirty="0" err="1"/>
              <a:t>arXiv</a:t>
            </a:r>
            <a:r>
              <a:rPr lang="en-IN" sz="1600" dirty="0"/>
              <a:t>, and </a:t>
            </a:r>
            <a:r>
              <a:rPr lang="en-IN" sz="1600" dirty="0" err="1"/>
              <a:t>CrossRef</a:t>
            </a:r>
            <a:r>
              <a:rPr lang="en-IN" sz="1600" dirty="0"/>
              <a:t> — each with its own API protocol (REST/JSON, Atom/XML, and </a:t>
            </a:r>
            <a:r>
              <a:rPr lang="en-IN" sz="1600" dirty="0" err="1"/>
              <a:t>CrossRef</a:t>
            </a:r>
            <a:r>
              <a:rPr lang="en-IN" sz="1600" dirty="0"/>
              <a:t> Works respectively). </a:t>
            </a:r>
          </a:p>
          <a:p>
            <a:pPr marL="342900" indent="-342900">
              <a:buFont typeface="Arial"/>
              <a:buAutoNum type="arabicPeriod"/>
            </a:pPr>
            <a:endParaRPr lang="en-IN" sz="1600" b="1" dirty="0"/>
          </a:p>
          <a:p>
            <a:pPr marL="342900" indent="-342900">
              <a:buFont typeface="Arial"/>
              <a:buAutoNum type="arabicPeriod"/>
            </a:pPr>
            <a:r>
              <a:rPr lang="en-IN" sz="1600" b="1" dirty="0"/>
              <a:t>IBM </a:t>
            </a:r>
            <a:r>
              <a:rPr lang="en-IN" sz="1600" b="1" dirty="0" err="1"/>
              <a:t>Watsonx</a:t>
            </a:r>
            <a:r>
              <a:rPr lang="en-IN" sz="1600" b="1" dirty="0"/>
              <a:t> Granite as the Reasoning Core: </a:t>
            </a:r>
            <a:r>
              <a:rPr lang="en-IN" sz="1600" dirty="0"/>
              <a:t>Rather than relying on commercial third-party models, the system is powered by </a:t>
            </a:r>
            <a:r>
              <a:rPr lang="en-IN" sz="1600" b="1" dirty="0"/>
              <a:t>IBM </a:t>
            </a:r>
            <a:r>
              <a:rPr lang="en-IN" sz="1600" b="1" dirty="0" err="1"/>
              <a:t>watsonx</a:t>
            </a:r>
            <a:r>
              <a:rPr lang="en-IN" sz="1600" b="1" dirty="0"/>
              <a:t> Granite (</a:t>
            </a:r>
            <a:r>
              <a:rPr lang="en-IN" sz="1600" dirty="0" err="1"/>
              <a:t>ibm</a:t>
            </a:r>
            <a:r>
              <a:rPr lang="en-IN" sz="1600" dirty="0"/>
              <a:t>/granite-4-h-small</a:t>
            </a:r>
            <a:r>
              <a:rPr lang="en-IN" sz="1600" b="1" dirty="0"/>
              <a:t>)</a:t>
            </a:r>
            <a:r>
              <a:rPr lang="en-IN" sz="1600" dirty="0"/>
              <a:t> — an enterprise-grade, governance-ready LLM.</a:t>
            </a:r>
          </a:p>
          <a:p>
            <a:pPr marL="342900" indent="-342900">
              <a:buFont typeface="Arial"/>
              <a:buAutoNum type="arabicPeriod"/>
            </a:pPr>
            <a:endParaRPr lang="en-IN" sz="1600" dirty="0"/>
          </a:p>
          <a:p>
            <a:pPr marL="342900" indent="-342900">
              <a:buFont typeface="Arial"/>
              <a:buAutoNum type="arabicPeriod"/>
            </a:pPr>
            <a:r>
              <a:rPr lang="en-IN" sz="1600" b="1" dirty="0"/>
              <a:t>Citation-Aware Structured Summarization: </a:t>
            </a:r>
            <a:r>
              <a:rPr lang="en-IN" sz="1600" dirty="0"/>
              <a:t>The </a:t>
            </a:r>
            <a:r>
              <a:rPr lang="en-IN" sz="1600" dirty="0" err="1"/>
              <a:t>summarize_paper</a:t>
            </a:r>
            <a:r>
              <a:rPr lang="en-IN" sz="1600" dirty="0"/>
              <a:t> tool does not produce a generic paragraph summary. It extracts </a:t>
            </a:r>
            <a:r>
              <a:rPr lang="en-IN" sz="1600" b="1" dirty="0"/>
              <a:t>structured fields</a:t>
            </a:r>
            <a:r>
              <a:rPr lang="en-IN" sz="1600" dirty="0"/>
              <a:t> — key contributions, methodology, conclusions, and a one-liner — that are then consumed as typed inputs by the report drafting tool. </a:t>
            </a:r>
          </a:p>
          <a:p>
            <a:endParaRPr lang="en-IN" sz="1850" b="1" dirty="0"/>
          </a:p>
          <a:p>
            <a:pPr marL="342900" indent="-342900">
              <a:buFont typeface="Arial"/>
              <a:buAutoNum type="arabicPeriod"/>
            </a:pPr>
            <a:endParaRPr lang="en-IN" sz="1850" b="1" dirty="0"/>
          </a:p>
          <a:p>
            <a:pPr marL="342900" indent="-342900">
              <a:buAutoNum type="arabicPeriod"/>
            </a:pPr>
            <a:endParaRPr lang="en-IN" sz="1850" dirty="0"/>
          </a:p>
          <a:p>
            <a:pPr marL="342900" indent="-342900">
              <a:buAutoNum type="arabicPeriod"/>
            </a:pPr>
            <a:endParaRPr lang="en-IN" sz="1850" b="1" dirty="0"/>
          </a:p>
          <a:p>
            <a:endParaRPr lang="en-IN" sz="1850"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https://github.com/vivek-kr011/Research-Agent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5011937"/>
          </a:xfrm>
          <a:prstGeom prst="rect">
            <a:avLst/>
          </a:prstGeom>
          <a:noFill/>
          <a:ln>
            <a:noFill/>
          </a:ln>
        </p:spPr>
        <p:txBody>
          <a:bodyPr spcFirstLastPara="1" wrap="square" lIns="0" tIns="0" rIns="0" bIns="0" anchor="t" anchorCtr="0">
            <a:noAutofit/>
          </a:bodyPr>
          <a:lstStyle/>
          <a:p>
            <a:r>
              <a:rPr lang="en-IN" sz="1850" b="1" dirty="0"/>
              <a:t>1. Multi-Source Database Expansion &amp; Real-Time Indexing</a:t>
            </a:r>
            <a:br>
              <a:rPr lang="en-IN" b="1" dirty="0"/>
            </a:br>
            <a:endParaRPr lang="en-IN" b="1" dirty="0"/>
          </a:p>
          <a:p>
            <a:r>
              <a:rPr lang="en-IN" sz="1850" dirty="0"/>
              <a:t>Currently the agent searches </a:t>
            </a:r>
            <a:r>
              <a:rPr lang="en-IN" sz="1850" b="1" dirty="0"/>
              <a:t>Semantic Scholar, </a:t>
            </a:r>
            <a:r>
              <a:rPr lang="en-IN" sz="1850" b="1" dirty="0" err="1"/>
              <a:t>arXiv</a:t>
            </a:r>
            <a:r>
              <a:rPr lang="en-IN" sz="1850" b="1" dirty="0"/>
              <a:t>, and </a:t>
            </a:r>
            <a:r>
              <a:rPr lang="en-IN" sz="1850" b="1" dirty="0" err="1"/>
              <a:t>CrossRef</a:t>
            </a:r>
            <a:r>
              <a:rPr lang="en-IN" sz="1850" dirty="0"/>
              <a:t>. Future versions can integrate additional databases such as </a:t>
            </a:r>
            <a:r>
              <a:rPr lang="en-IN" sz="1850" b="1" dirty="0"/>
              <a:t>PubMed</a:t>
            </a:r>
            <a:r>
              <a:rPr lang="en-IN" sz="1850" dirty="0"/>
              <a:t> (biomedical), </a:t>
            </a:r>
            <a:r>
              <a:rPr lang="en-IN" sz="1850" b="1" dirty="0"/>
              <a:t>IEEE Xplore</a:t>
            </a:r>
            <a:r>
              <a:rPr lang="en-IN" sz="1850" dirty="0"/>
              <a:t> (engineering), </a:t>
            </a:r>
            <a:r>
              <a:rPr lang="en-IN" sz="1850" b="1" dirty="0"/>
              <a:t>Scopus</a:t>
            </a:r>
            <a:r>
              <a:rPr lang="en-IN" sz="1850" dirty="0"/>
              <a:t>, and </a:t>
            </a:r>
            <a:r>
              <a:rPr lang="en-IN" sz="1850" b="1" dirty="0"/>
              <a:t>Google Scholar</a:t>
            </a:r>
            <a:r>
              <a:rPr lang="en-IN" sz="1850" dirty="0"/>
              <a:t>. Alongside this, a real-time indexing pipeline can be built so newly published preprints are automatically ingested and available for search without manual re-querying, keeping research outputs up-to-date with the latest literature.</a:t>
            </a:r>
          </a:p>
          <a:p>
            <a:endParaRPr lang="en-IN" sz="1850" dirty="0"/>
          </a:p>
          <a:p>
            <a:r>
              <a:rPr lang="en-US" sz="1850" b="1" dirty="0">
                <a:solidFill>
                  <a:srgbClr val="2B3541"/>
                </a:solidFill>
                <a:latin typeface="Times New Roman"/>
                <a:ea typeface="Times New Roman"/>
                <a:cs typeface="Times New Roman"/>
                <a:sym typeface="Times New Roman"/>
              </a:rPr>
              <a:t>2.</a:t>
            </a:r>
            <a:r>
              <a:rPr lang="en-IN" sz="1850" b="1" dirty="0"/>
              <a:t> Persistent Research Workspace &amp; Session Memory</a:t>
            </a:r>
          </a:p>
          <a:p>
            <a:endParaRPr lang="en-IN" sz="1850" b="1" dirty="0"/>
          </a:p>
          <a:p>
            <a:pPr lvl="0">
              <a:buClr>
                <a:srgbClr val="2B3541"/>
              </a:buClr>
              <a:buSzPts val="1850"/>
            </a:pPr>
            <a:r>
              <a:rPr lang="en-IN" sz="1850" dirty="0"/>
              <a:t>The current system is stateless — each request starts fresh. Introducing a </a:t>
            </a:r>
            <a:r>
              <a:rPr lang="en-IN" sz="1850" b="1" dirty="0"/>
              <a:t>persistent research workspace</a:t>
            </a:r>
            <a:r>
              <a:rPr lang="en-IN" sz="1850" dirty="0"/>
              <a:t> would allow users to save ongoing research sessions, accumulate paper collections across multiple queries, and revisit or extend previous reports. This can be backed by a vector database (e.g., Chroma or Pinecone) that stores embeddings of already-summarized papers, enabling semantic deduplication and incremental report building over time.</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FB4B77E6-3FB0-CADD-7112-13EFAA011E51}"/>
              </a:ext>
            </a:extLst>
          </p:cNvPr>
          <p:cNvPicPr>
            <a:picLocks noChangeAspect="1"/>
          </p:cNvPicPr>
          <p:nvPr/>
        </p:nvPicPr>
        <p:blipFill>
          <a:blip r:embed="rId2"/>
          <a:stretch>
            <a:fillRect/>
          </a:stretch>
        </p:blipFill>
        <p:spPr>
          <a:xfrm>
            <a:off x="2438400" y="1367169"/>
            <a:ext cx="7708490" cy="5200779"/>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8" name="Picture 7">
            <a:extLst>
              <a:ext uri="{FF2B5EF4-FFF2-40B4-BE49-F238E27FC236}">
                <a16:creationId xmlns:a16="http://schemas.microsoft.com/office/drawing/2014/main" id="{F0D6B404-9526-075D-DF95-22AC428C6D8C}"/>
              </a:ext>
            </a:extLst>
          </p:cNvPr>
          <p:cNvPicPr>
            <a:picLocks noChangeAspect="1"/>
          </p:cNvPicPr>
          <p:nvPr/>
        </p:nvPicPr>
        <p:blipFill>
          <a:blip r:embed="rId2"/>
          <a:stretch>
            <a:fillRect/>
          </a:stretch>
        </p:blipFill>
        <p:spPr>
          <a:xfrm>
            <a:off x="1690649" y="1279677"/>
            <a:ext cx="8810702" cy="5351932"/>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668</TotalTime>
  <Words>1319</Words>
  <Application>Microsoft Office PowerPoint</Application>
  <PresentationFormat>Widescreen</PresentationFormat>
  <Paragraphs>124</Paragraphs>
  <Slides>20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Vivek Kumar</cp:lastModifiedBy>
  <cp:revision>5</cp:revision>
  <dcterms:created xsi:type="dcterms:W3CDTF">2025-07-08T05:06:56Z</dcterms:created>
  <dcterms:modified xsi:type="dcterms:W3CDTF">2026-09-10T16:22:29Z</dcterms:modified>
</cp:coreProperties>
</file>